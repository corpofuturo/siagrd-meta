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7A27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Personal (57.8%)</c:v>
                </c:pt>
                <c:pt idx="1">
                  <c:v>Capacitaciones (14.8%)</c:v>
                </c:pt>
                <c:pt idx="2">
                  <c:v>Equipos (5.6%)</c:v>
                </c:pt>
                <c:pt idx="3">
                  <c:v>Difusion (4.9%)</c:v>
                </c:pt>
                <c:pt idx="4">
                  <c:v>Infraestructura (0.4%)</c:v>
                </c:pt>
                <c:pt idx="5">
                  <c:v>Auditoria (3.6%)</c:v>
                </c:pt>
                <c:pt idx="6">
                  <c:v>Otros (12.9%)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714286</c:v>
                </c:pt>
                <c:pt idx="1">
                  <c:v>183000</c:v>
                </c:pt>
                <c:pt idx="2">
                  <c:v>69000</c:v>
                </c:pt>
                <c:pt idx="3">
                  <c:v>60000</c:v>
                </c:pt>
                <c:pt idx="4">
                  <c:v>5409</c:v>
                </c:pt>
                <c:pt idx="5">
                  <c:v>45000</c:v>
                </c:pt>
                <c:pt idx="6">
                  <c:v>159319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5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SIAGRD es una plataforma digital integral para la gestión del riesgo de desastres en los 29 municipios del Meta. Es de código abierto, financiada por cooperación internacional no reembolsable, y se entregará en propiedad a la Gobernación al mes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Meta es uno de los departamentos más expuestos a amenazas del país pero la gestión sigue siendo por radio y papel. 45 minutos para registrar un incidente es inaceptable cuando vidas están en juego.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Meta concentra prácticamente todos los tipos de amenaza de Colombia: inundaciones, remoción, incendios, sismos, derrames y accidentalidad vial. Ningún otro departamento tiene esta combinación.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SIAGRD no es una sola app sino un ecosistema. El Panel Web es el cerebro para coordinadores. La App SOCORRO para entidades de respuesta en campo. La App SATAM convierte a cada ciudadano en un primer respondiente.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Panel Web permite a los coordinadores del CDGRD ver en tiempo real todos los eventos. El semáforo de alertas permite priorizar respuesta. Verde es normalidad, rojo es emergencia declarada.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SATAM convierte a cada habitante del Meta en un sensor del territorio. El diseño offline-first es fundamental en zonas con conectividad limitada.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SIAGRD articula toda la institucionalidad del riesgo en el Meta: desde la UNGRD nacional hasta cada alcaldía municipal. Es el nodo coordinador.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SIAGRD no es un piloto: es cobertura total del departamento. Los 29 municipios, incluyendo los más remotos como Mapiripán y Uribe, tendrán acceso al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reduce riesgos: en el año 1 se pilota con 5 municipios antes de expandir. En el año 2 cobertura total. En el año 3 consolidación y transferencia. Al mes 36 la Gobernación tiene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está balanceado: desarrollo, datos geoespaciales, seguridad, capacitación y comunicación. Los 3 capacitadores garantizan que los funcionarios usen el sistema efectivamente.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infraestructura cuesta $48/mes sin licencias. Una solución comercial equivalente costaría $5.000-$20.000/año solo en licencias. El costo total de infraestructura para 36 meses es $5.409 USD, menos del 0.5% del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de emergencias del Meta son de la Gobernación, en sus servidores, con sus credenciales. Ningun proveedor externo tiene acceso a informacion sensible sobre la gestión del riesgo departamental.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57.8% en personal refleja que esto es construcción de software de calidad, no compra de licencias. La contrapartida ($195.000 en 3 años = $65.000/año) es equivalente a un salario y medio mensual de un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JICA ha financiado proyectos similares en Asia y America Latina. Colombia tiene convenio de cooperación técnica con Japón desde 1985. GIZ también tiene historial fuerte en gestión del riesgo en Colombia.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cooperantes internacionales evalúan específicamente el alineamiento con el Marco de Sendai y los ODS. SIAGRD fue diseñado con esta alineación como criterio fundamental.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ratio 1:8 está documentado por el Banco Mundial y la UNDRR. Para el Meta, con el volumen de emergencias anuales, esto representa un ahorro fiscal sustancial.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Costo de $2.000/mes en operacion, equipo interno capacitado, codigo libre. No hay dependencia de ningun proveedor privado. Esta es la respuesta que los cooperantes quieren escuchar.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alguien pregunte 'por qué no comprar una solucion comercial', la respuesta está aquí: SIAGRD es del Meta, los datos son del Meta, el código es del Meta, y el costo operativo es una fraccion de cualquier licencia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4 compromisos son interdependientes pero el mas urgente es la carta de aval. La contrapartida de $65.000/año es menos de lo que cuesta un incidente de emergencia mal gestionado por falta de coordinación.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ruta crítica es clara: todo depende de la carta de aval. Con ella, el proceso con el cooperante toma 3-6 meses. El objetivo es tener el proyecto en ejecucion en enero de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de cierre: La Gobernación no tiene que comprometer dinero hoy — solo tiene que firmar una carta que dice: respaldamos este proyecto. Eso abre la puerta a mas de un millón de dolares en cooperacion internacional para proteger al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28016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SIAGRD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2286000" y="2331720"/>
            <a:ext cx="4572000" cy="6400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Alertas Tempranas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Gestión del Riesgo del Departamento del Meta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la Gobernación del Meta  |  Junio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572000"/>
            <a:ext cx="87782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Cooperación Internacional  |  Código Abierto  |  36 meses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Meta enfrenta amenazas múltiples sin sistema integrado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0574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860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digital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reporte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68680"/>
            <a:ext cx="20574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1.088.749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sin alertas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tempranas automatizadas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68680"/>
            <a:ext cx="205740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097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min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0916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registrar un incidente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(radio + papel)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86868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868680"/>
            <a:ext cx="2057400" cy="10972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0972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949440" y="2057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CMGRD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423160"/>
            <a:ext cx="20574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plataforma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coodinación digital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amenazas del Departamento del Meta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960120"/>
            <a:ext cx="12344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960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Ríos Meta, Ariari, Guayabero, Guaviare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68680"/>
            <a:ext cx="10972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41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REMOCIÓN EN MASA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960120"/>
            <a:ext cx="12344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960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344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Piedemonte: El Calvario, San Juanito, Cumaral, Restrepo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94560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 FORESTALES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2286000"/>
            <a:ext cx="1234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MEDIO-ALTO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70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del departamento: La Macarena, Uribe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194560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286000"/>
            <a:ext cx="1234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670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Subducción cordillera oriental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520440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93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DERRAMES HIDROCARBUROS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3611880"/>
            <a:ext cx="1234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995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Rubiales / Puerto Gaitán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520440"/>
            <a:ext cx="4206240" cy="11887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520440"/>
            <a:ext cx="10972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93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VIALES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3611880"/>
            <a:ext cx="123444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3611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995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40 (Bogotá-Villavicencio), Ruta 65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plataforma, tres interfaces, todo el departamento conectado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50292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WEB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CDGRD y CMGRD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en tiempo real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los 29 municipios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estadístico clave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diferenciados por nivel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 y alertas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88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SOCORRO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bomberos, Cruz Roja, Defensa Civil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funciona sin internet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campo GPS + foto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push en tiempo real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coordinación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82296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2296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SATAM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los habitantes del Meta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87452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push o SMS fallback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eventos ciudadanos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preparación offline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emergencias local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Coordinación Departamental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9776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MUNICIPIOS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en tiempo real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Capas: alertas, recursos, rutas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por municipio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868680"/>
            <a:ext cx="320040" cy="59436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886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eventos activos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200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965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temprana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514600"/>
            <a:ext cx="3200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532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en desarrollo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337560"/>
            <a:ext cx="3200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611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 activa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4114800"/>
            <a:ext cx="3429000" cy="68580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41330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Ve todo el departamento
</a:t>
            </a:r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Ve su municipio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SATAM — El ciudadano como primer respondiente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286000" cy="3977640"/>
          </a:xfrm>
          <a:prstGeom prst="rect">
            <a:avLst/>
          </a:prstGeom>
          <a:solidFill>
            <a:srgbClr val="0D1B2A"/>
          </a:solidFill>
          <a:ln w="25400">
            <a:solidFill>
              <a:srgbClr val="2D7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103120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ACTIVA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Inundacion - Rio Meta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Villavicencio Norte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incidente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foto GPS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automatico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841248"/>
            <a:ext cx="5943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841248"/>
            <a:ext cx="411480" cy="66751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841248"/>
            <a:ext cx="411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88696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push sin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si no hay internet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91056"/>
            <a:ext cx="5943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1591056"/>
            <a:ext cx="411480" cy="66751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91056"/>
            <a:ext cx="411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6367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ciudadano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93852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+ GPS + descripción del evento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340864"/>
            <a:ext cx="5943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2340864"/>
            <a:ext cx="411480" cy="66751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40864"/>
            <a:ext cx="411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38658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68833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al recuperar señal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090672"/>
            <a:ext cx="5943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3090672"/>
            <a:ext cx="411480" cy="66751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090672"/>
            <a:ext cx="411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1363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preparación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43814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Descargables para consulta offline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840480"/>
            <a:ext cx="5943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0" y="3840480"/>
            <a:ext cx="411480" cy="66751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840480"/>
            <a:ext cx="411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29000" y="38862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emergencias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418795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Bomberos, policía, hospital por municipio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institucionalidad del Meta conectada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NACIONAL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868680"/>
            <a:ext cx="644652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UNGRD   |   IDEAM   |   SGC   |   MinTIC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2D7A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65960"/>
            <a:ext cx="1920240" cy="100584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6596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DEPARTAMENTAL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011680"/>
            <a:ext cx="644652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 |  CDGRD  |  Cruz Roja Seccional  |  Defensa Civil  |  Bomberos Villavicencio  |  CORMACARENA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8595360" cy="1005840"/>
          </a:xfrm>
          <a:prstGeom prst="rect">
            <a:avLst/>
          </a:prstGeom>
          <a:solidFill>
            <a:srgbClr val="1A3A5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337560"/>
            <a:ext cx="1920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3756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MUNICIPAL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383280"/>
            <a:ext cx="644652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CMGRD  |  29 Alcaldías  |  Bomberos Voluntarios municipales  |  Cruz Roja seccionales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 del Departamento del Meta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Villavicencio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Acacías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Barranca de Upía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Cabuyaro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Castilla La Nueva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Cubarral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Cumaral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El Calvario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El Castillo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El Dorado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Fuente de Oro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Granada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Guamal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La Macarena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Lejanías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7772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8686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Mapiripán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Mesetas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Puerto Concordia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Puerto Gaitán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Puerto Lleras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Puerto López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Puerto Rico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Restrepo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San Carlos de Guaroa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San Juan de Arama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 San Juanito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 San Martín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Uribe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Vista Hermosa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4645152"/>
            <a:ext cx="8641080" cy="38404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645152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funcionarios CMGRD capacitados  +  120 de entidades de socorro  =  410 usuarios directos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años para transformar la gestión del riesgo en el Meta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188720"/>
          </a:xfrm>
          <a:prstGeom prst="rect">
            <a:avLst/>
          </a:prstGeom>
          <a:solidFill>
            <a:srgbClr val="0A25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0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89611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Desarrollo ajustado al Meta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Piloto 5 municipios (Villavicencio, Granada, Acacías, Puerto López, Puerto Gaitán)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Expansión a 19 municipios más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Capacitación primer grupo CMGRD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8595360" cy="1188720"/>
          </a:xfrm>
          <a:prstGeom prst="rect">
            <a:avLst/>
          </a:prstGeom>
          <a:solidFill>
            <a:srgbClr val="0A2540"/>
          </a:solidFill>
          <a:ln w="19050">
            <a:solidFill>
              <a:srgbClr val="2D7A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48840"/>
            <a:ext cx="1097280" cy="118872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488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2199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29/29 municipios activos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Campaña ciudadana de adopción de SATAM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Entidades de socorro integradas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Primera auditoría de seguridad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8595360" cy="1188720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74720"/>
            <a:ext cx="109728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747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54787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Consolidación y optimización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Capacitación avanzada y certificación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Transferencia completa a la Gobernación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Documentación técnica y manuales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36 — Entrega de código fuente, servidores y sistema 100% operativo a la Gobernación del Meta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22 profesionales especializados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057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Técnico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04672"/>
            <a:ext cx="2057400" cy="457200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04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280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Senior + 2 Junior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Mobile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046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04672"/>
            <a:ext cx="2057400" cy="4572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04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280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Senior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Gráfico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8046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804672"/>
            <a:ext cx="205740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804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SQA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1280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903720" y="1920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+ Tester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Auditor Seguridad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8620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62072"/>
            <a:ext cx="205740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8620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GIS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2004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GIS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Funcional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28620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23160" y="2862072"/>
            <a:ext cx="20574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8620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251460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Ingenieros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Capacitadores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Comunicador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862072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862072"/>
            <a:ext cx="2057400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8620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470916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22 profesionales  |  100% dedicados al proyecto durante 36 meses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segura, confiable y de bajo costo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57400" cy="3977640"/>
          </a:xfrm>
          <a:prstGeom prst="rect">
            <a:avLst/>
          </a:prstGeom>
          <a:solidFill>
            <a:srgbClr val="0A25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0574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Cloud dedicado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vCPU / 16 GB RAM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GB SSD NVMe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$48 USD/mes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57400" cy="3977640"/>
          </a:xfrm>
          <a:prstGeom prst="rect">
            <a:avLst/>
          </a:prstGeom>
          <a:solidFill>
            <a:srgbClr val="0A2540"/>
          </a:solidFill>
          <a:ln w="19050">
            <a:solidFill>
              <a:srgbClr val="2D7A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822960"/>
            <a:ext cx="2057400" cy="50292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22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444752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HTTPS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perimetral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diarios cifrados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2057400" cy="3977640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822960"/>
            <a:ext cx="2057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22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444752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(errores 24/7)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822960"/>
            <a:ext cx="2057400" cy="3977640"/>
          </a:xfrm>
          <a:prstGeom prst="rect">
            <a:avLst/>
          </a:prstGeom>
          <a:solidFill>
            <a:srgbClr val="0A254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822960"/>
            <a:ext cx="20574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822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MESES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444752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$5.409 USD total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$150 USD/mes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de software</a:t>
            </a:r>
            <a:endParaRPr lang="en-US" sz="11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100% open source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datos seguros, bajo control de la Gobernación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propio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9844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almacenados en servidor de la Gobernación, no en terceros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diarios cifrados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9844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seguridad automaticas con cifrado AES-256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240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trimestral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243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de seguridad por empresa externa certificada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240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 / Datos Personales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243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total con normativa colombiana de privacidad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7472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747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566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HTTPS permanente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502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segura y cifrado de todas las comunicaciones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02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747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566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inmutable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502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 de todas las acciones del sistema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$1.236.014 USD en 36 meses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754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22960"/>
            <a:ext cx="228600" cy="34747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técnico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89520" y="822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$714.286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20640" y="1298448"/>
            <a:ext cx="2286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298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Capacitaciones y campo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$183.000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1773936"/>
            <a:ext cx="228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1773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89520" y="17739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$69.000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20640" y="2249424"/>
            <a:ext cx="228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22494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ciudadana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$60.000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20640" y="2724912"/>
            <a:ext cx="2286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0680" y="2724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TI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3200400"/>
            <a:ext cx="228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SQA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$45.000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20640" y="3675888"/>
            <a:ext cx="22860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/ Contingencia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3675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$159.319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0" y="4224528"/>
            <a:ext cx="3886200" cy="804672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4251960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cooperante: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$1.041.014 (84%)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Contrapartida Gobernación: </a:t>
            </a:r>
            <a:pPr indent="0" marL="0">
              <a:buNone/>
            </a:pPr>
            <a:r>
              <a:rPr lang="en-US" sz="1100" b="1" dirty="0">
                <a:solidFill>
                  <a:srgbClr val="2D7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$195.000 (16%)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cooperación japonesa?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JICA — Japan International Cooperation Agency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5166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Japón: referente mundial en gestión de desastres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Sendai 2015-2030 es de origen japonés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JICA tiene presencia activa en Colombia (UNGRD, IDEAM)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es país prioritario para cooperación técnica japonesa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Modalidad: Cooperación Técnica de Proyecto (NO REEMBOLSABLE)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822960"/>
            <a:ext cx="2926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89320" y="822960"/>
            <a:ext cx="2926080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822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cooperantes posibles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89888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898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874520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74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18745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359152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3591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3591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Naciones Unidas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843784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8437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8437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3328416"/>
            <a:ext cx="822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3284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3284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del Sur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864108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0520"/>
            <a:ext cx="86410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carta de aval de la Gobernación es el requisito fundamental para iniciar el proceso con cualquier cooperante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SIAGRD alineado con marcos internacionales y nacionales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Sendai 2015-2030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3: Inversión en reducción del riesgo de desastres para la resiliencia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08760"/>
            <a:ext cx="1097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08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11 — Ciudades Sostenibles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1819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inclusivas, seguras, resilientes y sostenibles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94560"/>
            <a:ext cx="10972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945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13 — Acción por el Clima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5054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urgentes para combatir el cambio climático y sus efectos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80360"/>
            <a:ext cx="10972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1523 / 2012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1912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Nacional de Gestión del Riesgo — Marco legal y fortalecimiento de CMGRD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66160"/>
            <a:ext cx="1097280" cy="59436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66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Nacional GdR 2015-2025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877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de capacidades municipales de gestión del riesgo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51960"/>
            <a:ext cx="10972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51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CONPES 3988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4562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 para la gestión pública territorial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el Departamento del Meta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EN TIEMPO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datos, no en radio. Mapa vivo de los 29 municipios.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123444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14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COORDINACION EFECTIVA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municipios y todas las entidades de socorro hablando el mismo idioma.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12848"/>
            <a:ext cx="502920" cy="1234440"/>
          </a:xfrm>
          <a:prstGeom prst="rect">
            <a:avLst/>
          </a:prstGeom>
          <a:solidFill>
            <a:srgbClr val="1E6B8C"/>
          </a:solidFill>
          <a:ln w="12700">
            <a:solidFill>
              <a:srgbClr val="1E6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128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304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ACTIVOS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respondientes capacitados y conectados en todo el territorio.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12848"/>
            <a:ext cx="5029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128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304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DEMOSTRABLE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8833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prevención vs. atención: ratio 1:8. Por cada $1 invertido se ahorran $8.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02736"/>
            <a:ext cx="5029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60273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6941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TOTAL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078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y código fuente propiedad del Meta al finalizar. Sin dependencias.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02736"/>
            <a:ext cx="502920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0273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6941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REPUTACION E INNOVACION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0782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como departamento innovador en GdR a nivel nacional. Modelo replicable.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termine el proyecto?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2D7A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371600" cy="9144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9418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completa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2893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fuente, servidores, credenciales, documentacion tecnica — todo en manos de la Gobernación del Meta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92808"/>
            <a:ext cx="1371600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37+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965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autónoma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231343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Gobernación administra con equipo propio capacitado durante los 36 meses del proyecto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859536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16936"/>
            <a:ext cx="1371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16936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990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$24.000 USD/año en operacion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375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$2.000/mes vs. $34.446/mes durante el proyecto. Ahorro del 94% en fase operativa post-proyecto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41064"/>
            <a:ext cx="859536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41064"/>
            <a:ext cx="13716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41064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40142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libre para compartir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83080" y="436168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Meta puede ceder SIAGRD a otros departamentos o a la UNGRD como base del sistema nacional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SIAGRD y no una solución comercial?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822960"/>
            <a:ext cx="2834640" cy="4572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822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SIAGRD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822960"/>
            <a:ext cx="29260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822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Solución comercial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389888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3898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Abierto MIT — propiedad del Meta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389888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3898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Cerrado — propiedad del proveedor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25603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56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1956816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568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100% adaptado al Meta y Colombia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956816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9568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Genérico, personalización limitada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23744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23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523744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52374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En servidor propio de la Gobernación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523744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5237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En servidores del proveedor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25603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90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3090672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$2.000 USD/mes post-proyecto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3090672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0906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$5.000-$20.000 USD/año en licencias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3657600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3657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Ninguna — equipo interno capacitado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3657600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36576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Alta — renovación de contratos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224528"/>
            <a:ext cx="256032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224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4224528"/>
            <a:ext cx="28346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42245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Diseñado para Ley 1523 Colombia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4224528"/>
            <a:ext cx="29260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42245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Requiere adaptación costosa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aval institucional que abre la puerta a la cooperación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737360"/>
          </a:xfrm>
          <a:prstGeom prst="rect">
            <a:avLst/>
          </a:prstGeom>
          <a:solidFill>
            <a:srgbClr val="0A254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AVAL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oficial de la Gobernación respaldando el proyecto SIAGRD ante el cooperante internacional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737360"/>
          </a:xfrm>
          <a:prstGeom prst="rect">
            <a:avLst/>
          </a:prstGeom>
          <a:solidFill>
            <a:srgbClr val="0A2540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005840"/>
            <a:ext cx="594360" cy="5943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CONTRAPARTIDA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190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$195.000 USD en 3 años: personal enlace + espacios de trabajo + logística para capacitaciones en 29 municipios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0A2540"/>
          </a:solidFill>
          <a:ln w="25400">
            <a:solidFill>
              <a:srgbClr val="2D7A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594360" cy="594360"/>
          </a:xfrm>
          <a:prstGeom prst="ellipse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formal de los 29 alcaldes y el CDGRD para participar activamente en el proyecto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206240" cy="1737360"/>
          </a:xfrm>
          <a:prstGeom prst="rect">
            <a:avLst/>
          </a:prstGeom>
          <a:solidFill>
            <a:srgbClr val="0A2540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926080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oficial de SIAGRD como herramienta institucional de la gestión del riesgo del Meta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hacia la cooperación internacional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2834640"/>
            <a:ext cx="71323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1554480" cy="4572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365760" cy="365760"/>
          </a:xfrm>
          <a:prstGeom prst="ellipse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3898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aval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920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emite respaldo oficial al proyecto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57400" y="82296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822960"/>
            <a:ext cx="15544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697480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13898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cooperante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0552" y="1920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JICA / GIZ / PNUD con perfil completo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82296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822960"/>
            <a:ext cx="1554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Sep-Oct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0" y="26974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13898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22192" y="1920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 y financiera del cooperante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82296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822960"/>
            <a:ext cx="1554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13898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convenio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entre Gobernación y cooperante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822960"/>
            <a:ext cx="1554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0" y="822960"/>
            <a:ext cx="1554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26680" y="26974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66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13898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proyecto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05472" y="1920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SIAGRD en ejecución. 22 profesionales inician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8641080" cy="4572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389120"/>
            <a:ext cx="8641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carta de aval firmada en julio, el proyecto puede estar en ejecución en enero de 2027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SIAGRD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828800" y="1417320"/>
            <a:ext cx="5486400" cy="6400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"Juntos, mas seguros"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Departamento del Meta tiene la plataforma. Tiene el equipo. Tiene el territorio.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falta el aval y el cooperante para llevarlo a los 29 municipios.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6400800" cy="1325880"/>
          </a:xfrm>
          <a:prstGeom prst="rect">
            <a:avLst/>
          </a:prstGeom>
          <a:solidFill>
            <a:srgbClr val="0A2540"/>
          </a:solidFill>
          <a:ln w="19050">
            <a:solidFill>
              <a:srgbClr val="2D7A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264408"/>
            <a:ext cx="6217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del Meta — Secretaría de Gobierno y Seguridad
</a:t>
            </a:r>
            <a:pPr algn="ctr" indent="0" marL="0">
              <a:buNone/>
            </a:pPr>
            <a:r>
              <a:rPr lang="en-US" sz="1100" dirty="0">
                <a:solidFill>
                  <a:srgbClr val="A8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Villavicencio, Meta, Colombia
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gerente@corpofuturo.org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709160"/>
            <a:ext cx="87782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SIAGRD  |  Sistema Integrado de Alertas Tempranas y Gestión del Riesgo  |  Gobernación del Meta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SIAGRD - Presentación Gobernación del Meta</dc:title>
  <dc:subject>PptxGenJS Presentation</dc:subject>
  <dc:creator>SIAGRD</dc:creator>
  <cp:lastModifiedBy>SIAGRD</cp:lastModifiedBy>
  <cp:revision>1</cp:revision>
  <dcterms:created xsi:type="dcterms:W3CDTF">2026-06-12T21:38:55Z</dcterms:created>
  <dcterms:modified xsi:type="dcterms:W3CDTF">2026-06-12T21:38:55Z</dcterms:modified>
</cp:coreProperties>
</file>